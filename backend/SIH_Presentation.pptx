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Setu: AI-Augmented Societal Problem-Solving Ecosystem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Smart India Hackathon 2026</a:t>
            </a:r>
          </a:p>
          <a:p>
            <a:r>
              <a:t>Problem Statement: PS26043</a:t>
            </a:r>
          </a:p>
          <a:p>
            <a:r>
              <a:t>Team: Team Antigravity</a:t>
            </a:r>
          </a:p>
          <a:p>
            <a:r>
              <a:t>Government of Jharkhand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3366"/>
                </a:solidFill>
              </a:rPr>
              <a:t>Proposed Solution: Setu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- A tri-sided marketplace connecting Government (Problem Owners), Universities (Solvers), and Administrators.</a:t>
            </a:r>
          </a:p>
          <a:p>
            <a:pPr>
              <a:defRPr sz="1600"/>
            </a:pPr>
            <a:r>
              <a:t>- Core Gaps Addressed:</a:t>
            </a:r>
          </a:p>
          <a:p>
            <a:pPr lvl="1">
              <a:defRPr sz="1600"/>
            </a:pPr>
            <a:r>
              <a:t>  - No continuous lifecycle tracking (hackathons end abruptly)</a:t>
            </a:r>
          </a:p>
          <a:p>
            <a:pPr lvl="1">
              <a:defRPr sz="1600"/>
            </a:pPr>
            <a:r>
              <a:t>  - Poor problem articulation from domain experts</a:t>
            </a:r>
          </a:p>
          <a:p>
            <a:pPr lvl="1">
              <a:defRPr sz="1600"/>
            </a:pPr>
            <a:r>
              <a:t>  - Lack of semantic matching between solver expertise and problems</a:t>
            </a:r>
          </a:p>
          <a:p>
            <a:pPr>
              <a:defRPr sz="1600"/>
            </a:pPr>
            <a:r>
              <a:t>- Key Features:</a:t>
            </a:r>
          </a:p>
          <a:p>
            <a:pPr lvl="1">
              <a:defRPr sz="1600"/>
            </a:pPr>
            <a:r>
              <a:t>  - AI Articulation Wizard: Translates raw situations into structured challenges using LLMs.</a:t>
            </a:r>
          </a:p>
          <a:p>
            <a:pPr lvl="1">
              <a:defRPr sz="1600"/>
            </a:pPr>
            <a:r>
              <a:t>  - Semantic Matching Engine: Vector-based matching (Sentence-Transformers) + Tag overlap.</a:t>
            </a:r>
          </a:p>
          <a:p>
            <a:pPr lvl="1">
              <a:defRPr sz="1600"/>
            </a:pPr>
            <a:r>
              <a:t>  - Lifecycle Tracker: End-to-end tracking from Discovery to Deployment and Outcome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3366"/>
                </a:solidFill>
              </a:rPr>
              <a:t>Technical Approach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- Frontend: React + Vite + TailwindCSS (Fast, accessible, mobile-responsive UI).</a:t>
            </a:r>
          </a:p>
          <a:p>
            <a:pPr>
              <a:defRPr sz="1600"/>
            </a:pPr>
            <a:r>
              <a:t>- Backend: FastAPI (Python) for high performance and asynchronous execution.</a:t>
            </a:r>
          </a:p>
          <a:p>
            <a:pPr>
              <a:defRPr sz="1600"/>
            </a:pPr>
            <a:r>
              <a:t>- AI/ML Layer: </a:t>
            </a:r>
          </a:p>
          <a:p>
            <a:pPr lvl="1">
              <a:defRPr sz="1600"/>
            </a:pPr>
            <a:r>
              <a:t>  - Sentence-Transformers (paraphrase-multilingual-MiniLM-L12-v2) for semantic matching.</a:t>
            </a:r>
          </a:p>
          <a:p>
            <a:pPr lvl="1">
              <a:defRPr sz="1600"/>
            </a:pPr>
            <a:r>
              <a:t>  - Gemini Flash API for the AI Articulation Wizard (with rule-based NLP fallback).</a:t>
            </a:r>
          </a:p>
          <a:p>
            <a:pPr>
              <a:defRPr sz="1600"/>
            </a:pPr>
            <a:r>
              <a:t>- Database: SQLite (Scalable to PostgreSQL). Embeddings stored as JSON.</a:t>
            </a:r>
          </a:p>
          <a:p>
            <a:pPr>
              <a:defRPr sz="1600"/>
            </a:pPr>
            <a:r>
              <a:t>- Design: State-driven role-based access control (RBAC) across 4 personas.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3366"/>
                </a:solidFill>
              </a:rPr>
              <a:t>Feasibility &amp; Viability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- Technical Feasibility: </a:t>
            </a:r>
          </a:p>
          <a:p>
            <a:pPr lvl="1">
              <a:defRPr sz="1600"/>
            </a:pPr>
            <a:r>
              <a:t>  - Built on open-source, proven technologies (React, FastAPI, SentenceTransformers).</a:t>
            </a:r>
          </a:p>
          <a:p>
            <a:pPr lvl="1">
              <a:defRPr sz="1600"/>
            </a:pPr>
            <a:r>
              <a:t>  - Designed for offline/low-resource fallback (rule-based matching).</a:t>
            </a:r>
          </a:p>
          <a:p>
            <a:pPr>
              <a:defRPr sz="1600"/>
            </a:pPr>
            <a:r>
              <a:t>- Operational Viability:</a:t>
            </a:r>
          </a:p>
          <a:p>
            <a:pPr lvl="1">
              <a:defRPr sz="1600"/>
            </a:pPr>
            <a:r>
              <a:t>  - Lightweight onboarding for Government officials via AI Wizard.</a:t>
            </a:r>
          </a:p>
          <a:p>
            <a:pPr lvl="1">
              <a:defRPr sz="1600"/>
            </a:pPr>
            <a:r>
              <a:t>  - Minimal infrastructure cost (CPU-runnable embedding models).</a:t>
            </a:r>
          </a:p>
          <a:p>
            <a:pPr>
              <a:defRPr sz="1600"/>
            </a:pPr>
            <a:r>
              <a:t>- Financial Viability:</a:t>
            </a:r>
          </a:p>
          <a:p>
            <a:pPr lvl="1">
              <a:defRPr sz="1600"/>
            </a:pPr>
            <a:r>
              <a:t>  - Avoids expensive commercial vector DBs; uses in-memory cosine similarity and SQL JSON.</a:t>
            </a:r>
          </a:p>
          <a:p>
            <a:pPr lvl="1">
              <a:defRPr sz="1600"/>
            </a:pPr>
            <a:r>
              <a:t>  - High ROI for government by verifying actual on-ground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3366"/>
                </a:solidFill>
              </a:rPr>
              <a:t>Impact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- For Government:</a:t>
            </a:r>
          </a:p>
          <a:p>
            <a:pPr lvl="1">
              <a:defRPr sz="1600"/>
            </a:pPr>
            <a:r>
              <a:t>  - Transparent dashboard for state-level innovation metrics.</a:t>
            </a:r>
          </a:p>
          <a:p>
            <a:pPr lvl="1">
              <a:defRPr sz="1600"/>
            </a:pPr>
            <a:r>
              <a:t>  - Faster translation of citizen issues into academic research.</a:t>
            </a:r>
          </a:p>
          <a:p>
            <a:pPr>
              <a:defRPr sz="1600"/>
            </a:pPr>
            <a:r>
              <a:t>- For Universities/Students:</a:t>
            </a:r>
          </a:p>
          <a:p>
            <a:pPr lvl="1">
              <a:defRPr sz="1600"/>
            </a:pPr>
            <a:r>
              <a:t>  - Direct pipeline to real-world impact and funding.</a:t>
            </a:r>
          </a:p>
          <a:p>
            <a:pPr lvl="1">
              <a:defRPr sz="1600"/>
            </a:pPr>
            <a:r>
              <a:t>  - Skill-based matching ensures relevant project allocation.</a:t>
            </a:r>
          </a:p>
          <a:p>
            <a:pPr>
              <a:defRPr sz="1600"/>
            </a:pPr>
            <a:r>
              <a:t>- For Citizens:</a:t>
            </a:r>
          </a:p>
          <a:p>
            <a:pPr lvl="1">
              <a:defRPr sz="1600"/>
            </a:pPr>
            <a:r>
              <a:t>  - Verified outcomes (Project isn't "done" until deployment is validated).</a:t>
            </a:r>
          </a:p>
          <a:p>
            <a:pPr lvl="1">
              <a:defRPr sz="1600"/>
            </a:pPr>
            <a:r>
              <a:t>  - Scalable model across domains: Water, Healthcare, Education.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3366"/>
                </a:solidFill>
              </a:rPr>
              <a:t>Research, References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- Extensive R&amp;D conducted on existing platforms (Kavach, SIH, YUKTI) showing absence of persistent lifecycle tracking.</a:t>
            </a:r>
          </a:p>
          <a:p>
            <a:pPr>
              <a:defRPr sz="1600"/>
            </a:pPr>
            <a:r>
              <a:t>- Future Roadmap:</a:t>
            </a:r>
          </a:p>
          <a:p>
            <a:pPr lvl="1">
              <a:defRPr sz="1600"/>
            </a:pPr>
            <a:r>
              <a:t>  - Integration with DigiLocker for student identity verification.</a:t>
            </a:r>
          </a:p>
          <a:p>
            <a:pPr lvl="1">
              <a:defRPr sz="1600"/>
            </a:pPr>
            <a:r>
              <a:t>  - Multilingual AI Wizard (Hindi/Santali voice input) for rural stakeholders.</a:t>
            </a:r>
          </a:p>
          <a:p>
            <a:pPr lvl="1">
              <a:defRPr sz="1600"/>
            </a:pPr>
            <a:r>
              <a:t>  - Blockchain-based verification for project milestones and funding disbursement.</a:t>
            </a:r>
          </a:p>
          <a:p>
            <a:pPr>
              <a:defRPr sz="1600"/>
            </a:pPr>
            <a:r>
              <a:t>- References: </a:t>
            </a:r>
          </a:p>
          <a:p>
            <a:pPr lvl="1">
              <a:defRPr sz="1600"/>
            </a:pPr>
            <a:r>
              <a:t>  - Jharkhand Student Research and Innovation Policy (2024).</a:t>
            </a:r>
          </a:p>
          <a:p>
            <a:pPr lvl="1">
              <a:defRPr sz="1600"/>
            </a:pPr>
            <a:r>
              <a:t>  - Sentence-Transformers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